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228600"/>
          </a:xfrm>
          <a:prstGeom prst="rect">
            <a:avLst/>
          </a:prstGeom>
          <a:solidFill>
            <a:srgbClr val="14B8A8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CSIS 4495 — Applied Research  ·  Final Presentation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FaceDoor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3474720" y="2487168"/>
            <a:ext cx="2194560" cy="50292"/>
          </a:xfrm>
          <a:prstGeom prst="rect">
            <a:avLst/>
          </a:prstGeom>
          <a:solidFill>
            <a:srgbClr val="14B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578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Door Security System for Elderly Care Facilities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1417320" y="3200400"/>
            <a:ext cx="2011680" cy="475488"/>
          </a:xfrm>
          <a:prstGeom prst="roundRect">
            <a:avLst>
              <a:gd name="adj" fmla="val 11538"/>
            </a:avLst>
          </a:prstGeom>
          <a:solidFill>
            <a:srgbClr val="14B8A8">
              <a:alpha val="88000"/>
            </a:srgbClr>
          </a:solidFill>
          <a:ln w="15240">
            <a:solidFill>
              <a:srgbClr val="14B8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17320" y="3200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Recognition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49040" y="3200400"/>
            <a:ext cx="2011680" cy="475488"/>
          </a:xfrm>
          <a:prstGeom prst="roundRect">
            <a:avLst>
              <a:gd name="adj" fmla="val 11538"/>
            </a:avLst>
          </a:prstGeom>
          <a:solidFill>
            <a:srgbClr val="10B981">
              <a:alpha val="88000"/>
            </a:srgbClr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3200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Detection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80760" y="3200400"/>
            <a:ext cx="2011680" cy="475488"/>
          </a:xfrm>
          <a:prstGeom prst="roundRect">
            <a:avLst>
              <a:gd name="adj" fmla="val 11538"/>
            </a:avLst>
          </a:prstGeom>
          <a:solidFill>
            <a:srgbClr val="F59E0B">
              <a:alpha val="88000"/>
            </a:srgbClr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0760" y="3200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Monitoring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17520" y="3886200"/>
            <a:ext cx="3108960" cy="438912"/>
          </a:xfrm>
          <a:prstGeom prst="roundRect">
            <a:avLst>
              <a:gd name="adj" fmla="val 12500"/>
            </a:avLst>
          </a:prstGeom>
          <a:solidFill>
            <a:srgbClr val="CCFBF1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17520" y="38862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On-Premises  ·  Zero Cloud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Text 1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FaceDoor  ·  CSIS 4495 Applied Research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8046720" y="0"/>
            <a:ext cx="1097280" cy="658368"/>
          </a:xfrm>
          <a:prstGeom prst="rect">
            <a:avLst/>
          </a:prstGeom>
          <a:solidFill>
            <a:srgbClr val="14B8A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04672"/>
            <a:ext cx="64008" cy="877824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877824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Elderly residents in care facilities face serious safety risks from unauthorized access — traditional door systems cannot identify who is entering.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4320" y="1828800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828800"/>
            <a:ext cx="64008" cy="87782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01952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are the leading cause of injury in elderly care. Standard CCTV cannot detect falls in real-time or alert caregivers automatically.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74320" y="2852928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852928"/>
            <a:ext cx="64008" cy="87782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9260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visitor logs and surveillance are error-prone and fail to provide instant response during security incidents.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74320" y="3877056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3877056"/>
            <a:ext cx="64008" cy="87782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3950208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regulations demand fully on-premises processing — no patient data can leave the facility network to any cloud service.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715000" y="804672"/>
            <a:ext cx="31546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15000" y="804672"/>
            <a:ext cx="64008" cy="11887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9" name="Shape 17"/>
          <p:cNvSpPr/>
          <p:nvPr/>
        </p:nvSpPr>
        <p:spPr>
          <a:xfrm>
            <a:off x="5715000" y="804672"/>
            <a:ext cx="3154680" cy="64008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0" name="Text 18"/>
          <p:cNvSpPr/>
          <p:nvPr/>
        </p:nvSpPr>
        <p:spPr>
          <a:xfrm>
            <a:off x="5715000" y="896112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4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5806440" y="15544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elderly adults fall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year in care facilities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715000" y="2221992"/>
            <a:ext cx="31546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715000" y="2221992"/>
            <a:ext cx="64008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Shape 22"/>
          <p:cNvSpPr/>
          <p:nvPr/>
        </p:nvSpPr>
        <p:spPr>
          <a:xfrm>
            <a:off x="5715000" y="2221992"/>
            <a:ext cx="3154680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Text 23"/>
          <p:cNvSpPr/>
          <p:nvPr/>
        </p:nvSpPr>
        <p:spPr>
          <a:xfrm>
            <a:off x="5715000" y="2313432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5806440" y="297180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care facilities report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breach concerns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715000" y="3639312"/>
            <a:ext cx="31546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715000" y="3639312"/>
            <a:ext cx="64008" cy="1188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9" name="Shape 27"/>
          <p:cNvSpPr/>
          <p:nvPr/>
        </p:nvSpPr>
        <p:spPr>
          <a:xfrm>
            <a:off x="5715000" y="3639312"/>
            <a:ext cx="315468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0" name="Text 28"/>
          <p:cNvSpPr/>
          <p:nvPr/>
        </p:nvSpPr>
        <p:spPr>
          <a:xfrm>
            <a:off x="5715000" y="3730752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min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5806440" y="438912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response window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fall-related injuries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8046720" y="0"/>
            <a:ext cx="1097280" cy="658368"/>
          </a:xfrm>
          <a:prstGeom prst="rect">
            <a:avLst/>
          </a:prstGeom>
          <a:solidFill>
            <a:srgbClr val="14B8A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 — FaceDoor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intelligent, privacy-first security platform — running entirely on-premises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6032" y="1188720"/>
            <a:ext cx="278892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14B8A8"/>
            </a:solidFill>
            <a:prstDash val="solid"/>
          </a:ln>
          <a:effectLst>
            <a:outerShdw sx="100000" sy="100000" kx="0" ky="0" algn="bl" rotWithShape="0" blurRad="203200" dist="38100" dir="8100000">
              <a:srgbClr val="0F172A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188720"/>
            <a:ext cx="2788920" cy="91440"/>
          </a:xfrm>
          <a:prstGeom prst="rect">
            <a:avLst/>
          </a:prstGeom>
          <a:solidFill>
            <a:srgbClr val="14B8A8"/>
          </a:solidFill>
          <a:ln/>
        </p:spPr>
      </p:sp>
      <p:sp>
        <p:nvSpPr>
          <p:cNvPr id="8" name="Text 6"/>
          <p:cNvSpPr/>
          <p:nvPr/>
        </p:nvSpPr>
        <p:spPr>
          <a:xfrm>
            <a:off x="256032" y="1298448"/>
            <a:ext cx="2788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4B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94.6%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256032" y="21762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test accuracy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" y="2487168"/>
            <a:ext cx="1965960" cy="45720"/>
          </a:xfrm>
          <a:prstGeom prst="rect">
            <a:avLst/>
          </a:prstGeom>
          <a:solidFill>
            <a:srgbClr val="14B8A8">
              <a:alpha val="4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256032" y="257860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Recognition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93192" y="2999232"/>
            <a:ext cx="25146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registered residents &amp; staff using dlib with HOG detection and 128-D face encoding. Unknown faces trigger an instant HIGH security alert.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88920" cy="365760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203200" dist="38100" dir="8100000">
              <a:srgbClr val="0F172A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0" y="1188720"/>
            <a:ext cx="2788920" cy="91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1298448"/>
            <a:ext cx="2788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3200400" y="21762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test accuracy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11880" y="2487168"/>
            <a:ext cx="1965960" cy="45720"/>
          </a:xfrm>
          <a:prstGeom prst="rect">
            <a:avLst/>
          </a:prstGeom>
          <a:solidFill>
            <a:srgbClr val="10B981">
              <a:alpha val="4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0" y="257860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Detection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37560" y="2999232"/>
            <a:ext cx="25146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Dual-mode system: rules-based pose analysis combined with an LSTM neural network trained on the UR Fall Detection Dataset using 33 MediaPipe keypoints.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44768" y="1188720"/>
            <a:ext cx="2788920" cy="3657600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203200" dist="38100" dir="8100000">
              <a:srgbClr val="0F172A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44768" y="1188720"/>
            <a:ext cx="278892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144768" y="1298448"/>
            <a:ext cx="2788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52.5</a:t>
            </a:r>
            <a:endParaRPr lang="en-US" sz="5200" dirty="0"/>
          </a:p>
        </p:txBody>
      </p:sp>
      <p:sp>
        <p:nvSpPr>
          <p:cNvPr id="23" name="Text 21"/>
          <p:cNvSpPr/>
          <p:nvPr/>
        </p:nvSpPr>
        <p:spPr>
          <a:xfrm>
            <a:off x="6144768" y="21762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 mAP score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56248" y="2487168"/>
            <a:ext cx="1965960" cy="45720"/>
          </a:xfrm>
          <a:prstGeom prst="rect">
            <a:avLst/>
          </a:prstGeom>
          <a:solidFill>
            <a:srgbClr val="F59E0B">
              <a:alpha val="4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6144768" y="257860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Monitoring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81928" y="2999232"/>
            <a:ext cx="25146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Seven-rule anomaly engine covering tailgating, wandering, unusual access hours, repeated failures, and weapon detection via YOLO26 with CLAHE preprocessing.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8046720" y="0"/>
            <a:ext cx="1097280" cy="658368"/>
          </a:xfrm>
          <a:prstGeom prst="rect">
            <a:avLst/>
          </a:prstGeom>
          <a:solidFill>
            <a:srgbClr val="14B8A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FRAMEWORK &amp; TECH STACK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2852928" cy="40233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749808"/>
            <a:ext cx="2852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" y="1243584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28600" y="1243584"/>
            <a:ext cx="64008" cy="57607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393192" y="128930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 3.11)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93192" y="154533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— single-threaded for OpenCV compatibility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8600" y="1892808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" y="1892808"/>
            <a:ext cx="64008" cy="57607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393192" y="193852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93192" y="21945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store, person registry, audit logs, fall history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8600" y="2542032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28600" y="2542032"/>
            <a:ext cx="64008" cy="57607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393192" y="2587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dlib + OpenCV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93192" y="284378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 face detection, 128-D encoding, Euclidean matching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28600" y="3191256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28600" y="3191256"/>
            <a:ext cx="64008" cy="57607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1" name="Text 19"/>
          <p:cNvSpPr/>
          <p:nvPr/>
        </p:nvSpPr>
        <p:spPr>
          <a:xfrm>
            <a:off x="393192" y="3236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93192" y="349300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33-keypoint pose estimation for fall analysis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3840480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28600" y="3840480"/>
            <a:ext cx="64008" cy="57607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5" name="Text 23"/>
          <p:cNvSpPr/>
          <p:nvPr/>
        </p:nvSpPr>
        <p:spPr>
          <a:xfrm>
            <a:off x="393192" y="38862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Neural Network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93192" y="41422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UR Fall Detection Dataset — 93% accuracy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4489704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28600" y="4489704"/>
            <a:ext cx="64008" cy="57607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9" name="Text 27"/>
          <p:cNvSpPr/>
          <p:nvPr/>
        </p:nvSpPr>
        <p:spPr>
          <a:xfrm>
            <a:off x="393192" y="45354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93192" y="47914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Weapon &amp; hazard detection — 52.5 mAP with CLAHE preprocessing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200400" y="749808"/>
            <a:ext cx="2852928" cy="40233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749808"/>
            <a:ext cx="2852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200400" y="1243584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0" y="1243584"/>
            <a:ext cx="64008" cy="57607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5" name="Text 33"/>
          <p:cNvSpPr/>
          <p:nvPr/>
        </p:nvSpPr>
        <p:spPr>
          <a:xfrm>
            <a:off x="3364992" y="128930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+ React 19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364992" y="154533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Router, TypeScript, server-side rendering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200400" y="1892808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200400" y="1892808"/>
            <a:ext cx="64008" cy="57607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9" name="Text 37"/>
          <p:cNvSpPr/>
          <p:nvPr/>
        </p:nvSpPr>
        <p:spPr>
          <a:xfrm>
            <a:off x="3364992" y="193852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3364992" y="21945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utility-first styling — light glassmorphism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0" y="2542032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0" y="2542032"/>
            <a:ext cx="64008" cy="57607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3" name="Text 41"/>
          <p:cNvSpPr/>
          <p:nvPr/>
        </p:nvSpPr>
        <p:spPr>
          <a:xfrm>
            <a:off x="3364992" y="2587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3364992" y="284378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KPI charts: bar, donut, live line graph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200400" y="3191256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3200400" y="3191256"/>
            <a:ext cx="64008" cy="57607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7" name="Text 45"/>
          <p:cNvSpPr/>
          <p:nvPr/>
        </p:nvSpPr>
        <p:spPr>
          <a:xfrm>
            <a:off x="3364992" y="3236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Proxy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3364992" y="349300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rewrites /api/* → Flask on port 5001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200400" y="3840480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200400" y="3840480"/>
            <a:ext cx="64008" cy="57607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1" name="Text 49"/>
          <p:cNvSpPr/>
          <p:nvPr/>
        </p:nvSpPr>
        <p:spPr>
          <a:xfrm>
            <a:off x="3364992" y="38862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Dashboard Pages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3364992" y="41422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· Alerts · Logs · Compliance · Falls Monitor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00400" y="4489704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3200400" y="4489704"/>
            <a:ext cx="64008" cy="57607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5" name="Text 53"/>
          <p:cNvSpPr/>
          <p:nvPr/>
        </p:nvSpPr>
        <p:spPr>
          <a:xfrm>
            <a:off x="3364992" y="45354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3364992" y="47914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 export for regulatory compliance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172200" y="749808"/>
            <a:ext cx="2852928" cy="40233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8" name="Text 56"/>
          <p:cNvSpPr/>
          <p:nvPr/>
        </p:nvSpPr>
        <p:spPr>
          <a:xfrm>
            <a:off x="6172200" y="749808"/>
            <a:ext cx="2852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172200" y="1243584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172200" y="1243584"/>
            <a:ext cx="64008" cy="57607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1" name="Text 59"/>
          <p:cNvSpPr/>
          <p:nvPr/>
        </p:nvSpPr>
        <p:spPr>
          <a:xfrm>
            <a:off x="6336792" y="128930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Face Engine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6336792" y="154533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dlib primary (94.6% measured) → OpenCV HOG fallback (70–80%)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172200" y="1892808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6172200" y="1892808"/>
            <a:ext cx="64008" cy="57607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5" name="Text 63"/>
          <p:cNvSpPr/>
          <p:nvPr/>
        </p:nvSpPr>
        <p:spPr>
          <a:xfrm>
            <a:off x="6336792" y="193852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Detector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6336792" y="21945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+ 7 rule-based threat patterns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6172200" y="2542032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6172200" y="2542032"/>
            <a:ext cx="64008" cy="57607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9" name="Text 67"/>
          <p:cNvSpPr/>
          <p:nvPr/>
        </p:nvSpPr>
        <p:spPr>
          <a:xfrm>
            <a:off x="6336792" y="2587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Detector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6336792" y="284378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buffers + cooldown maintained across API calls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172200" y="3191256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6172200" y="3191256"/>
            <a:ext cx="64008" cy="57607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3" name="Text 71"/>
          <p:cNvSpPr/>
          <p:nvPr/>
        </p:nvSpPr>
        <p:spPr>
          <a:xfrm>
            <a:off x="6336792" y="32369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System</a:t>
            </a:r>
            <a:endParaRPr lang="en-US" sz="1150" dirty="0"/>
          </a:p>
        </p:txBody>
      </p:sp>
      <p:sp>
        <p:nvSpPr>
          <p:cNvPr id="74" name="Text 72"/>
          <p:cNvSpPr/>
          <p:nvPr/>
        </p:nvSpPr>
        <p:spPr>
          <a:xfrm>
            <a:off x="6336792" y="349300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thresholds in config.py — overridable via env vars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6172200" y="3840480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172200" y="3840480"/>
            <a:ext cx="64008" cy="57607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7" name="Text 75"/>
          <p:cNvSpPr/>
          <p:nvPr/>
        </p:nvSpPr>
        <p:spPr>
          <a:xfrm>
            <a:off x="6336792" y="38862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Auto-Calibration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6336792" y="41422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optimizer for recognition accuracy tuning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6172200" y="4489704"/>
            <a:ext cx="2852928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172200" y="4489704"/>
            <a:ext cx="64008" cy="57607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81" name="Text 79"/>
          <p:cNvSpPr/>
          <p:nvPr/>
        </p:nvSpPr>
        <p:spPr>
          <a:xfrm>
            <a:off x="6336792" y="45354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150" dirty="0"/>
          </a:p>
        </p:txBody>
      </p:sp>
      <p:sp>
        <p:nvSpPr>
          <p:cNvPr id="82" name="Text 80"/>
          <p:cNvSpPr/>
          <p:nvPr/>
        </p:nvSpPr>
        <p:spPr>
          <a:xfrm>
            <a:off x="6336792" y="47914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on-premises — zero cloud data transmission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8046720" y="0"/>
            <a:ext cx="1097280" cy="658368"/>
          </a:xfrm>
          <a:prstGeom prst="rect">
            <a:avLst/>
          </a:prstGeom>
          <a:solidFill>
            <a:srgbClr val="14B8A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673352" y="2231136"/>
            <a:ext cx="914400" cy="54864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2423160" y="2103120"/>
            <a:ext cx="228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B8A8"/>
                </a:solidFill>
              </a:rPr>
              <a:t>▶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83864" y="2231136"/>
            <a:ext cx="914400" cy="54864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8" name="Text 6"/>
          <p:cNvSpPr/>
          <p:nvPr/>
        </p:nvSpPr>
        <p:spPr>
          <a:xfrm>
            <a:off x="4233672" y="2103120"/>
            <a:ext cx="228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B8A8"/>
                </a:solidFill>
              </a:rPr>
              <a:t>▶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294376" y="2231136"/>
            <a:ext cx="914400" cy="54864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0" name="Text 8"/>
          <p:cNvSpPr/>
          <p:nvPr/>
        </p:nvSpPr>
        <p:spPr>
          <a:xfrm>
            <a:off x="6044184" y="2103120"/>
            <a:ext cx="228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B8A8"/>
                </a:solidFill>
              </a:rPr>
              <a:t>▶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04888" y="2231136"/>
            <a:ext cx="914400" cy="54864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2" name="Text 10"/>
          <p:cNvSpPr/>
          <p:nvPr/>
        </p:nvSpPr>
        <p:spPr>
          <a:xfrm>
            <a:off x="7854696" y="2103120"/>
            <a:ext cx="228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B8A8"/>
                </a:solidFill>
              </a:rPr>
              <a:t>▶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" y="1828800"/>
            <a:ext cx="896112" cy="8961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4672" y="1828800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615184" y="1828800"/>
            <a:ext cx="896112" cy="896112"/>
          </a:xfrm>
          <a:prstGeom prst="ellipse">
            <a:avLst/>
          </a:prstGeom>
          <a:solidFill>
            <a:srgbClr val="14B8A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15184" y="1828800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425696" y="1828800"/>
            <a:ext cx="896112" cy="89611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425696" y="1828800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36208" y="1828800"/>
            <a:ext cx="896112" cy="8961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236208" y="1828800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046720" y="1828800"/>
            <a:ext cx="896112" cy="8961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046720" y="1828800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73752" y="2724912"/>
            <a:ext cx="54864" cy="50292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4" name="Shape 22"/>
          <p:cNvSpPr/>
          <p:nvPr/>
        </p:nvSpPr>
        <p:spPr>
          <a:xfrm>
            <a:off x="3154680" y="3227832"/>
            <a:ext cx="3547872" cy="54864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5" name="Shape 23"/>
          <p:cNvSpPr/>
          <p:nvPr/>
        </p:nvSpPr>
        <p:spPr>
          <a:xfrm>
            <a:off x="3191256" y="3227832"/>
            <a:ext cx="54864" cy="3200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6" name="Shape 24"/>
          <p:cNvSpPr/>
          <p:nvPr/>
        </p:nvSpPr>
        <p:spPr>
          <a:xfrm>
            <a:off x="2834640" y="3566160"/>
            <a:ext cx="822960" cy="804672"/>
          </a:xfrm>
          <a:prstGeom prst="rect">
            <a:avLst/>
          </a:prstGeom>
          <a:solidFill>
            <a:srgbClr val="14B8A8">
              <a:alpha val="90000"/>
            </a:srgbClr>
          </a:solidFill>
          <a:ln w="12700">
            <a:solidFill>
              <a:srgbClr val="14B8A8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834640" y="356616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42816" y="3227832"/>
            <a:ext cx="54864" cy="3200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9" name="Shape 27"/>
          <p:cNvSpPr/>
          <p:nvPr/>
        </p:nvSpPr>
        <p:spPr>
          <a:xfrm>
            <a:off x="3886200" y="3566160"/>
            <a:ext cx="822960" cy="804672"/>
          </a:xfrm>
          <a:prstGeom prst="rect">
            <a:avLst/>
          </a:prstGeom>
          <a:solidFill>
            <a:srgbClr val="10B981">
              <a:alpha val="90000"/>
            </a:srgbClr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886200" y="356616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294376" y="3227832"/>
            <a:ext cx="54864" cy="3200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2" name="Shape 30"/>
          <p:cNvSpPr/>
          <p:nvPr/>
        </p:nvSpPr>
        <p:spPr>
          <a:xfrm>
            <a:off x="4937760" y="3566160"/>
            <a:ext cx="822960" cy="804672"/>
          </a:xfrm>
          <a:prstGeom prst="rect">
            <a:avLst/>
          </a:prstGeom>
          <a:solidFill>
            <a:srgbClr val="F59E0B">
              <a:alpha val="90000"/>
            </a:srgbClr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937760" y="356616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345936" y="3227832"/>
            <a:ext cx="54864" cy="3200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9320" y="3566160"/>
            <a:ext cx="822960" cy="804672"/>
          </a:xfrm>
          <a:prstGeom prst="rect">
            <a:avLst/>
          </a:prstGeom>
          <a:solidFill>
            <a:srgbClr val="8B5CF6">
              <a:alpha val="90000"/>
            </a:srgbClr>
          </a:solidFill>
          <a:ln w="12700">
            <a:solidFill>
              <a:srgbClr val="8B5CF6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989320" y="3566160"/>
            <a:ext cx="822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675120" y="3657600"/>
            <a:ext cx="2194560" cy="685800"/>
          </a:xfrm>
          <a:prstGeom prst="roundRect">
            <a:avLst>
              <a:gd name="adj" fmla="val 10667"/>
            </a:avLst>
          </a:prstGeom>
          <a:solidFill>
            <a:srgbClr val="F0FDFA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0" y="3657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On-Premises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Cloud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74320" y="47548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ML inference runs locally — patient data never leaves the facility network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8046720" y="0"/>
            <a:ext cx="1097280" cy="658368"/>
          </a:xfrm>
          <a:prstGeom prst="rect">
            <a:avLst/>
          </a:prstGeom>
          <a:solidFill>
            <a:srgbClr val="14B8A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 — FACE RECOGNITION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978408"/>
            <a:ext cx="566928" cy="566928"/>
          </a:xfrm>
          <a:prstGeom prst="ellipse">
            <a:avLst/>
          </a:prstGeom>
          <a:solidFill>
            <a:srgbClr val="14B8A8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78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25780" y="1545336"/>
            <a:ext cx="64008" cy="502920"/>
          </a:xfrm>
          <a:prstGeom prst="rect">
            <a:avLst/>
          </a:prstGeom>
          <a:solidFill>
            <a:srgbClr val="2DD4BF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87552" y="795528"/>
            <a:ext cx="443484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87552" y="795528"/>
            <a:ext cx="64008" cy="859536"/>
          </a:xfrm>
          <a:prstGeom prst="rect">
            <a:avLst/>
          </a:prstGeom>
          <a:solidFill>
            <a:srgbClr val="14B8A8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8595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116128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dlib frontal HOG detector locates faces in the camera frame with high precision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002536"/>
            <a:ext cx="566928" cy="566928"/>
          </a:xfrm>
          <a:prstGeom prst="ellipse">
            <a:avLst/>
          </a:prstGeom>
          <a:solidFill>
            <a:srgbClr val="14B8A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2002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25780" y="2569464"/>
            <a:ext cx="64008" cy="502920"/>
          </a:xfrm>
          <a:prstGeom prst="rect">
            <a:avLst/>
          </a:prstGeom>
          <a:solidFill>
            <a:srgbClr val="2DD4BF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87552" y="1819656"/>
            <a:ext cx="443484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87552" y="1819656"/>
            <a:ext cx="64008" cy="859536"/>
          </a:xfrm>
          <a:prstGeom prst="rect">
            <a:avLst/>
          </a:prstGeom>
          <a:solidFill>
            <a:srgbClr val="14B8A8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1883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2185416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128-dimensional face encoding extracted via dlib's ResNet-based neural network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74320" y="3026664"/>
            <a:ext cx="566928" cy="566928"/>
          </a:xfrm>
          <a:prstGeom prst="ellipse">
            <a:avLst/>
          </a:prstGeom>
          <a:solidFill>
            <a:srgbClr val="14B8A8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30266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25780" y="3593592"/>
            <a:ext cx="64008" cy="502920"/>
          </a:xfrm>
          <a:prstGeom prst="rect">
            <a:avLst/>
          </a:prstGeom>
          <a:solidFill>
            <a:srgbClr val="2DD4BF">
              <a:alpha val="6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987552" y="2843784"/>
            <a:ext cx="443484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87552" y="2843784"/>
            <a:ext cx="64008" cy="859536"/>
          </a:xfrm>
          <a:prstGeom prst="rect">
            <a:avLst/>
          </a:prstGeom>
          <a:solidFill>
            <a:srgbClr val="14B8A8"/>
          </a:solidFill>
          <a:ln/>
        </p:spPr>
      </p:sp>
      <p:sp>
        <p:nvSpPr>
          <p:cNvPr id="24" name="Text 22"/>
          <p:cNvSpPr/>
          <p:nvPr/>
        </p:nvSpPr>
        <p:spPr>
          <a:xfrm>
            <a:off x="1143000" y="29077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43000" y="320954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Euclidean distance compared against all registered encodings stored in SQLite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74320" y="4050792"/>
            <a:ext cx="566928" cy="566928"/>
          </a:xfrm>
          <a:prstGeom prst="ellipse">
            <a:avLst/>
          </a:prstGeom>
          <a:solidFill>
            <a:srgbClr val="14B8A8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" y="4050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87552" y="3867912"/>
            <a:ext cx="443484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87552" y="3867912"/>
            <a:ext cx="64008" cy="859536"/>
          </a:xfrm>
          <a:prstGeom prst="rect">
            <a:avLst/>
          </a:prstGeom>
          <a:solidFill>
            <a:srgbClr val="14B8A8"/>
          </a:solidFill>
          <a:ln/>
        </p:spPr>
      </p:sp>
      <p:sp>
        <p:nvSpPr>
          <p:cNvPr id="30" name="Text 28"/>
          <p:cNvSpPr/>
          <p:nvPr/>
        </p:nvSpPr>
        <p:spPr>
          <a:xfrm>
            <a:off x="1143000" y="3931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43000" y="4233672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→ Access Granted  ·  Unknown → HIGH alert triggered, event logged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0" y="795528"/>
            <a:ext cx="32004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669280" y="795528"/>
            <a:ext cx="64008" cy="1188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4" name="Shape 32"/>
          <p:cNvSpPr/>
          <p:nvPr/>
        </p:nvSpPr>
        <p:spPr>
          <a:xfrm>
            <a:off x="5669280" y="795528"/>
            <a:ext cx="32004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0" y="886968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94.6%</a:t>
            </a:r>
            <a:endParaRPr lang="en-US" sz="3400" dirty="0"/>
          </a:p>
        </p:txBody>
      </p:sp>
      <p:sp>
        <p:nvSpPr>
          <p:cNvPr id="36" name="Text 34"/>
          <p:cNvSpPr/>
          <p:nvPr/>
        </p:nvSpPr>
        <p:spPr>
          <a:xfrm>
            <a:off x="5760720" y="157276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test accuracy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69280" y="2212848"/>
            <a:ext cx="32004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669280" y="2212848"/>
            <a:ext cx="64008" cy="1188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9" name="Shape 37"/>
          <p:cNvSpPr/>
          <p:nvPr/>
        </p:nvSpPr>
        <p:spPr>
          <a:xfrm>
            <a:off x="5669280" y="2212848"/>
            <a:ext cx="3200400" cy="6400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0" name="Text 38"/>
          <p:cNvSpPr/>
          <p:nvPr/>
        </p:nvSpPr>
        <p:spPr>
          <a:xfrm>
            <a:off x="5669280" y="2304288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45ms</a:t>
            </a:r>
            <a:endParaRPr lang="en-US" sz="3400" dirty="0"/>
          </a:p>
        </p:txBody>
      </p:sp>
      <p:sp>
        <p:nvSpPr>
          <p:cNvPr id="41" name="Text 39"/>
          <p:cNvSpPr/>
          <p:nvPr/>
        </p:nvSpPr>
        <p:spPr>
          <a:xfrm>
            <a:off x="5760720" y="29900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latency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669280" y="3630168"/>
            <a:ext cx="32004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5669280" y="3630168"/>
            <a:ext cx="64008" cy="1188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669280" y="3630168"/>
            <a:ext cx="32004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0" y="3721608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128-D</a:t>
            </a:r>
            <a:endParaRPr lang="en-US" sz="3400" dirty="0"/>
          </a:p>
        </p:txBody>
      </p:sp>
      <p:sp>
        <p:nvSpPr>
          <p:cNvPr id="46" name="Text 44"/>
          <p:cNvSpPr/>
          <p:nvPr/>
        </p:nvSpPr>
        <p:spPr>
          <a:xfrm>
            <a:off x="5760720" y="440740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encoding vector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0" y="438912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F0FDFA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6072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Auto-fallback: if dlib fails the system switches to OpenCV HOG transparently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8046720" y="0"/>
            <a:ext cx="1097280" cy="658368"/>
          </a:xfrm>
          <a:prstGeom prst="rect">
            <a:avLst/>
          </a:prstGeom>
          <a:solidFill>
            <a:srgbClr val="14B8A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2 — FALL DETECTION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25196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777240"/>
            <a:ext cx="64008" cy="4114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" y="777240"/>
            <a:ext cx="4251960" cy="91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886968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Rules-Based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" y="1335024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 height drops below floor-proximity threshold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" y="1810512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Torso angle exceeds upright angle threshold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" y="2286000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downward velocity spike in keypoints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7472" y="2761488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landmark confidence scoring (MediaPipe)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" y="323697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Cooldown timer prevents duplicate alerts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" y="3712464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thresholds configurable via config.py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777240"/>
            <a:ext cx="425196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777240"/>
            <a:ext cx="64008" cy="4114800"/>
          </a:xfrm>
          <a:prstGeom prst="rect">
            <a:avLst/>
          </a:prstGeom>
          <a:solidFill>
            <a:srgbClr val="14B8A8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777240"/>
            <a:ext cx="4251960" cy="91440"/>
          </a:xfrm>
          <a:prstGeom prst="rect">
            <a:avLst/>
          </a:prstGeom>
          <a:solidFill>
            <a:srgbClr val="14B8A8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886968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LSTM Neural Network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892040" y="1353312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371600"/>
            <a:ext cx="1463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6355080" y="1463040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UR Fall Dataset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73168" y="2377440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MediaPipe body keypoints as input features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73168" y="2852928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window: 30-frame temporal sequences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73168" y="33284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— frame buffer maintained across API calls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73168" y="3803904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multi-scenario UR Fall Detection Dataset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73168" y="4279392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 output with CRITICAL alert trigger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8046720" y="0"/>
            <a:ext cx="1097280" cy="658368"/>
          </a:xfrm>
          <a:prstGeom prst="rect">
            <a:avLst/>
          </a:prstGeom>
          <a:solidFill>
            <a:srgbClr val="14B8A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3 — THREAT DETECTION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8600" y="795528"/>
            <a:ext cx="4251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795528"/>
            <a:ext cx="64008" cy="91440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7" name="Shape 5"/>
          <p:cNvSpPr/>
          <p:nvPr/>
        </p:nvSpPr>
        <p:spPr>
          <a:xfrm>
            <a:off x="3429000" y="996696"/>
            <a:ext cx="960120" cy="256032"/>
          </a:xfrm>
          <a:prstGeom prst="roundRect">
            <a:avLst>
              <a:gd name="adj" fmla="val 14286"/>
            </a:avLst>
          </a:pr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9966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88696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Unrecognized Face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individual detected at entry point — instant alert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874520"/>
            <a:ext cx="4251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" y="1874520"/>
            <a:ext cx="64008" cy="91440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2075688"/>
            <a:ext cx="960120" cy="256032"/>
          </a:xfrm>
          <a:prstGeom prst="roundRect">
            <a:avLst>
              <a:gd name="adj" fmla="val 14286"/>
            </a:avLst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20756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11480" y="19659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Failed Access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11480" y="23134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denied entry attempts from the same person in a session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953512"/>
            <a:ext cx="4251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28600" y="2953512"/>
            <a:ext cx="64008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Shape 17"/>
          <p:cNvSpPr/>
          <p:nvPr/>
        </p:nvSpPr>
        <p:spPr>
          <a:xfrm>
            <a:off x="3429000" y="3154680"/>
            <a:ext cx="960120" cy="256032"/>
          </a:xfrm>
          <a:prstGeom prst="roundRect">
            <a:avLst>
              <a:gd name="adj" fmla="val 14286"/>
            </a:avLst>
          </a:prstGeom>
          <a:solidFill>
            <a:srgbClr val="0284C7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31546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11480" y="30449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 Access Times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11480" y="339242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attempt detected outside configured facility operating hours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8600" y="4032504"/>
            <a:ext cx="4251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28600" y="4032504"/>
            <a:ext cx="64008" cy="91440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5" name="Shape 23"/>
          <p:cNvSpPr/>
          <p:nvPr/>
        </p:nvSpPr>
        <p:spPr>
          <a:xfrm>
            <a:off x="3429000" y="4233672"/>
            <a:ext cx="960120" cy="256032"/>
          </a:xfrm>
          <a:prstGeom prst="roundRect">
            <a:avLst>
              <a:gd name="adj" fmla="val 14286"/>
            </a:avLst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423367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11480" y="41239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Tailgating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11480" y="44714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individuals entering on a single door authorization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795528"/>
            <a:ext cx="4251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795528"/>
            <a:ext cx="64008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1" name="Shape 29"/>
          <p:cNvSpPr/>
          <p:nvPr/>
        </p:nvSpPr>
        <p:spPr>
          <a:xfrm>
            <a:off x="7863840" y="996696"/>
            <a:ext cx="960120" cy="256032"/>
          </a:xfrm>
          <a:prstGeom prst="roundRect">
            <a:avLst>
              <a:gd name="adj" fmla="val 14286"/>
            </a:avLst>
          </a:prstGeom>
          <a:solidFill>
            <a:srgbClr val="0284C7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0" y="9966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46320" y="88696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Wandering Alert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84632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detected outside their permitted zones or areas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1874520"/>
            <a:ext cx="4251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1874520"/>
            <a:ext cx="64008" cy="91440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Shape 35"/>
          <p:cNvSpPr/>
          <p:nvPr/>
        </p:nvSpPr>
        <p:spPr>
          <a:xfrm>
            <a:off x="7863840" y="2075688"/>
            <a:ext cx="960120" cy="256032"/>
          </a:xfrm>
          <a:prstGeom prst="roundRect">
            <a:avLst>
              <a:gd name="adj" fmla="val 14286"/>
            </a:avLst>
          </a:prstGeom>
          <a:solidFill>
            <a:srgbClr val="E11D48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0" y="20756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846320" y="19659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Falls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4846320" y="23134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fall events logged for the same individual in a window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663440" y="2953512"/>
            <a:ext cx="42519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663440" y="2953512"/>
            <a:ext cx="64008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3" name="Shape 41"/>
          <p:cNvSpPr/>
          <p:nvPr/>
        </p:nvSpPr>
        <p:spPr>
          <a:xfrm>
            <a:off x="7863840" y="3154680"/>
            <a:ext cx="960120" cy="256032"/>
          </a:xfrm>
          <a:prstGeom prst="roundRect">
            <a:avLst>
              <a:gd name="adj" fmla="val 14286"/>
            </a:avLst>
          </a:prstGeom>
          <a:solidFill>
            <a:srgbClr val="E11D48"/>
          </a:solidFill>
          <a:ln/>
        </p:spPr>
      </p:sp>
      <p:sp>
        <p:nvSpPr>
          <p:cNvPr id="44" name="Text 42"/>
          <p:cNvSpPr/>
          <p:nvPr/>
        </p:nvSpPr>
        <p:spPr>
          <a:xfrm>
            <a:off x="7863840" y="31546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846320" y="30449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4846320" y="339242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Weapon or hazardous object identified by YOLO26 (52.5 mAP)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663440" y="4361688"/>
            <a:ext cx="4251960" cy="566928"/>
          </a:xfrm>
          <a:prstGeom prst="roundRect">
            <a:avLst>
              <a:gd name="adj" fmla="val 9677"/>
            </a:avLst>
          </a:prstGeom>
          <a:solidFill>
            <a:srgbClr val="F5F3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0" y="4361688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 + CLAHE preprocessing enables reliable weapon detection in low-light environments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8046720" y="0"/>
            <a:ext cx="1097280" cy="658368"/>
          </a:xfrm>
          <a:prstGeom prst="rect">
            <a:avLst/>
          </a:prstGeom>
          <a:solidFill>
            <a:srgbClr val="14B8A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&amp; COMPLIANCE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299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64008" cy="1097280"/>
          </a:xfrm>
          <a:prstGeom prst="rect">
            <a:avLst/>
          </a:prstGeom>
          <a:solidFill>
            <a:srgbClr val="14B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77240"/>
            <a:ext cx="2029968" cy="64008"/>
          </a:xfrm>
          <a:prstGeom prst="rect">
            <a:avLst/>
          </a:prstGeom>
          <a:solidFill>
            <a:srgbClr val="14B8A8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850392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4320" y="1508760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Entries Today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50592" y="777240"/>
            <a:ext cx="20299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50592" y="777240"/>
            <a:ext cx="64008" cy="109728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2" name="Shape 10"/>
          <p:cNvSpPr/>
          <p:nvPr/>
        </p:nvSpPr>
        <p:spPr>
          <a:xfrm>
            <a:off x="2450592" y="777240"/>
            <a:ext cx="2029968" cy="6400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3" name="Text 11"/>
          <p:cNvSpPr/>
          <p:nvPr/>
        </p:nvSpPr>
        <p:spPr>
          <a:xfrm>
            <a:off x="2450592" y="850392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2450592" y="1508760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Alerts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26864" y="777240"/>
            <a:ext cx="20299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26864" y="777240"/>
            <a:ext cx="64008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777240"/>
            <a:ext cx="2029968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850392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4626864" y="1508760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Today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03136" y="777240"/>
            <a:ext cx="20299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03136" y="777240"/>
            <a:ext cx="64008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3136" y="777240"/>
            <a:ext cx="2029968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3" name="Text 21"/>
          <p:cNvSpPr/>
          <p:nvPr/>
        </p:nvSpPr>
        <p:spPr>
          <a:xfrm>
            <a:off x="6803136" y="850392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6803136" y="1508760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Denials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2011680"/>
            <a:ext cx="859536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74320" y="2011680"/>
            <a:ext cx="64008" cy="5212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475488" y="206654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724912" y="2148840"/>
            <a:ext cx="36576" cy="2468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2834640" y="2066544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KPI cards, hourly access bar chart, access outcome donut chart, recent event logs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2624328"/>
            <a:ext cx="859536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4320" y="2624328"/>
            <a:ext cx="64008" cy="521208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2" name="Text 30"/>
          <p:cNvSpPr/>
          <p:nvPr/>
        </p:nvSpPr>
        <p:spPr>
          <a:xfrm>
            <a:off x="475488" y="26791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24912" y="2761488"/>
            <a:ext cx="36576" cy="2468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4" name="Text 32"/>
          <p:cNvSpPr/>
          <p:nvPr/>
        </p:nvSpPr>
        <p:spPr>
          <a:xfrm>
            <a:off x="2834640" y="2679192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Severity-filtered alert feed (CRITICAL / HIGH / MEDIUM) with timestamps and person details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3236976"/>
            <a:ext cx="859536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74320" y="3236976"/>
            <a:ext cx="64008" cy="52120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7" name="Text 35"/>
          <p:cNvSpPr/>
          <p:nvPr/>
        </p:nvSpPr>
        <p:spPr>
          <a:xfrm>
            <a:off x="475488" y="3291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24912" y="3374136"/>
            <a:ext cx="36576" cy="2468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7"/>
          <p:cNvSpPr/>
          <p:nvPr/>
        </p:nvSpPr>
        <p:spPr>
          <a:xfrm>
            <a:off x="2834640" y="32918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event history with person name, outcome, confidence score, timestamp and event type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3849624"/>
            <a:ext cx="859536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74320" y="3849624"/>
            <a:ext cx="64008" cy="5212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2" name="Text 40"/>
          <p:cNvSpPr/>
          <p:nvPr/>
        </p:nvSpPr>
        <p:spPr>
          <a:xfrm>
            <a:off x="475488" y="39044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(Audit)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724912" y="3986784"/>
            <a:ext cx="36576" cy="2468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4" name="Text 42"/>
          <p:cNvSpPr/>
          <p:nvPr/>
        </p:nvSpPr>
        <p:spPr>
          <a:xfrm>
            <a:off x="2834640" y="390448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regulatory audit trail — CSV export for all access and system action logs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74320" y="4462272"/>
            <a:ext cx="859536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274320" y="4462272"/>
            <a:ext cx="64008" cy="5212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475488" y="451713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Monitor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724912" y="4599432"/>
            <a:ext cx="36576" cy="2468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9" name="Text 47"/>
          <p:cNvSpPr/>
          <p:nvPr/>
        </p:nvSpPr>
        <p:spPr>
          <a:xfrm>
            <a:off x="2834640" y="4517136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confidence history, fall event timeline, detector state and cooldown status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8046720" y="0"/>
            <a:ext cx="1097280" cy="658368"/>
          </a:xfrm>
          <a:prstGeom prst="rect">
            <a:avLst/>
          </a:prstGeom>
          <a:solidFill>
            <a:srgbClr val="14B8A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PIPEDA &amp; PRIVACY COMPLIANCE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PIPEDA principles mapped to system features — implemented and documented in docs/COMPLIANCE.md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4224528" cy="34747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" y="1115568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Data Handling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" y="1536192"/>
            <a:ext cx="422452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1536192"/>
            <a:ext cx="64008" cy="71323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159105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On-Premises Only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38912" y="186537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face encodings, events and logs stored locally. No data sent to any external server.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" y="2359152"/>
            <a:ext cx="422452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6032" y="2359152"/>
            <a:ext cx="64008" cy="71323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438912" y="241401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Minimization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38912" y="268833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128-D numerical embeddings stored — no raw images or video recordings retained.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6032" y="3182112"/>
            <a:ext cx="422452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3182112"/>
            <a:ext cx="64008" cy="71323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23697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Processing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8912" y="351129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frames processed on door events only. No continuous recording or surveillance.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" y="4005072"/>
            <a:ext cx="422452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6032" y="4005072"/>
            <a:ext cx="64008" cy="71323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438912" y="405993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Retention Policy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38912" y="433425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logs: 90 days  ·  Audit logs: 1 year  ·  Face data: until consent withdrawn (config.py).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63440" y="1115568"/>
            <a:ext cx="4224528" cy="34747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15568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Audit Trail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63440" y="1536192"/>
            <a:ext cx="42245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1536192"/>
            <a:ext cx="64008" cy="5669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158191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18288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system action logged with actor, action, resource, result, and timestamp in audit_logs.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63440" y="2185416"/>
            <a:ext cx="42245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2185416"/>
            <a:ext cx="64008" cy="5669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223113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Prevention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46320" y="247802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database queries use parameterized statements — no raw string concatenation.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834640"/>
            <a:ext cx="42245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63440" y="2834640"/>
            <a:ext cx="64008" cy="5669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28803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46320" y="312724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API inputs validated and sanitized before processing or storage.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663440" y="3483864"/>
            <a:ext cx="42245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663440" y="3483864"/>
            <a:ext cx="64008" cy="5669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0" name="Text 38"/>
          <p:cNvSpPr/>
          <p:nvPr/>
        </p:nvSpPr>
        <p:spPr>
          <a:xfrm>
            <a:off x="4846320" y="352958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Policy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846320" y="377647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Cross-origin requests restricted to trusted domains only.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663440" y="4133088"/>
            <a:ext cx="42245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663440" y="4133088"/>
            <a:ext cx="64008" cy="5669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417880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Dashboard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846320" y="44256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/compliance page with full audit trail view and CSV export for regulatory reporting.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8046720" y="0"/>
            <a:ext cx="1097280" cy="658368"/>
          </a:xfrm>
          <a:prstGeom prst="rect">
            <a:avLst/>
          </a:prstGeom>
          <a:solidFill>
            <a:srgbClr val="14B8A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795528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95528"/>
            <a:ext cx="64008" cy="1828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95528"/>
            <a:ext cx="269748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886968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94.6%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5760" y="19659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Recognition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Accuracy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18688" y="795528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18688" y="795528"/>
            <a:ext cx="64008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3218688" y="795528"/>
            <a:ext cx="269748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3218688" y="886968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3310128" y="19659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Fall Detection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63056" y="795528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63056" y="795528"/>
            <a:ext cx="64008" cy="1828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163056" y="795528"/>
            <a:ext cx="2697480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6163056" y="886968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52.5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6254496" y="19659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 mAP Score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(Threat Detection)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97180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2971800"/>
            <a:ext cx="64008" cy="18288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2971800"/>
            <a:ext cx="269748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06324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45ms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365760" y="4142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Face Pipeline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18688" y="297180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18688" y="2971800"/>
            <a:ext cx="64008" cy="1828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Shape 25"/>
          <p:cNvSpPr/>
          <p:nvPr/>
        </p:nvSpPr>
        <p:spPr>
          <a:xfrm>
            <a:off x="3218688" y="2971800"/>
            <a:ext cx="269748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3218688" y="306324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3310128" y="4142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Detection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Implemented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63056" y="297180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63056" y="2971800"/>
            <a:ext cx="64008" cy="18288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2" name="Shape 30"/>
          <p:cNvSpPr/>
          <p:nvPr/>
        </p:nvSpPr>
        <p:spPr>
          <a:xfrm>
            <a:off x="6163056" y="2971800"/>
            <a:ext cx="2697480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6163056" y="306324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34" name="Text 32"/>
          <p:cNvSpPr/>
          <p:nvPr/>
        </p:nvSpPr>
        <p:spPr>
          <a:xfrm>
            <a:off x="6254496" y="4142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Compliance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8046720" y="0"/>
            <a:ext cx="1097280" cy="658368"/>
          </a:xfrm>
          <a:prstGeom prst="rect">
            <a:avLst/>
          </a:prstGeom>
          <a:solidFill>
            <a:srgbClr val="14B8A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LESSONS LEARNED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251960" cy="384048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777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777240"/>
            <a:ext cx="4251960" cy="38404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777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" y="1252728"/>
            <a:ext cx="425196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1252728"/>
            <a:ext cx="64008" cy="676656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" y="130759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+ Threading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4048" y="158191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dlib segfaults in multi-threaded Flask — solved with single-threaded server mode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020824"/>
            <a:ext cx="425196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2020824"/>
            <a:ext cx="64008" cy="676656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5" name="Text 13"/>
          <p:cNvSpPr/>
          <p:nvPr/>
        </p:nvSpPr>
        <p:spPr>
          <a:xfrm>
            <a:off x="384048" y="207568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State Management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4048" y="23500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detector state must persist across stateless HTTP calls — singleton pattern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788920"/>
            <a:ext cx="425196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28600" y="2788920"/>
            <a:ext cx="64008" cy="676656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284378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Low-light Detection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84048" y="31181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 degraded in poor lighting — CLAHE preprocessing resolved this significantly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557016"/>
            <a:ext cx="425196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28600" y="3557016"/>
            <a:ext cx="64008" cy="676656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3" name="Text 21"/>
          <p:cNvSpPr/>
          <p:nvPr/>
        </p:nvSpPr>
        <p:spPr>
          <a:xfrm>
            <a:off x="384048" y="361188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Calibration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84048" y="388620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recognition thresholds are environment-dependent — built auto-calibration tool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28600" y="4325112"/>
            <a:ext cx="425196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28600" y="4325112"/>
            <a:ext cx="64008" cy="676656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7" name="Text 25"/>
          <p:cNvSpPr/>
          <p:nvPr/>
        </p:nvSpPr>
        <p:spPr>
          <a:xfrm>
            <a:off x="384048" y="437997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Integration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84048" y="46542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Synchronising 33-keypoint extraction with real-time frame timing was non-trivial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1252728"/>
            <a:ext cx="425196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1252728"/>
            <a:ext cx="64008" cy="67665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4818888" y="130759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Privacy-by-Design is Viable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818888" y="158191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on-premises ML achieves high accuracy without any cloud dependency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663440" y="2020824"/>
            <a:ext cx="425196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2020824"/>
            <a:ext cx="64008" cy="67665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5" name="Text 33"/>
          <p:cNvSpPr/>
          <p:nvPr/>
        </p:nvSpPr>
        <p:spPr>
          <a:xfrm>
            <a:off x="4818888" y="207568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Strategies Matter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818888" y="23500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Dual-engine (dlib + OpenCV) ensures resilience when the primary model fails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663440" y="2788920"/>
            <a:ext cx="425196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663440" y="2788920"/>
            <a:ext cx="64008" cy="67665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9" name="Text 37"/>
          <p:cNvSpPr/>
          <p:nvPr/>
        </p:nvSpPr>
        <p:spPr>
          <a:xfrm>
            <a:off x="4818888" y="284378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Externalisation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818888" y="31181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thresholds in config.py made tuning dramatically faster without code edits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663440" y="3557016"/>
            <a:ext cx="425196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663440" y="3557016"/>
            <a:ext cx="64008" cy="67665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3" name="Text 41"/>
          <p:cNvSpPr/>
          <p:nvPr/>
        </p:nvSpPr>
        <p:spPr>
          <a:xfrm>
            <a:off x="4818888" y="361188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ML in REST APIs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4818888" y="388620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pattern for sequence models is essential in stateless HTTP contexts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663440" y="4325112"/>
            <a:ext cx="425196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663440" y="4325112"/>
            <a:ext cx="64008" cy="67665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4818888" y="437997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Data Builds Confidence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4818888" y="46542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Auto-populating the UI with synthetic data was critical for reliable presentations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228600"/>
          </a:xfrm>
          <a:prstGeom prst="rect">
            <a:avLst/>
          </a:prstGeom>
          <a:solidFill>
            <a:srgbClr val="14B8A8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CSIS 4495 Applied Research  ·  Final Presentation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50292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97280"/>
            <a:ext cx="64008" cy="7498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50292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88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Recognition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149961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94.6% accuracy · dual-engine · 45ms pipeline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50292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011680"/>
            <a:ext cx="64008" cy="7498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2011680"/>
            <a:ext cx="502920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03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Detection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241401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Rules-based + 93% LSTM · 33 MediaPipe keypoints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926080"/>
            <a:ext cx="50292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926080"/>
            <a:ext cx="64008" cy="7498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274320" y="2926080"/>
            <a:ext cx="50292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175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Monitoring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332841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7-rule engine · YOLO26 52.5 mAP · real-time alerts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840480"/>
            <a:ext cx="50292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F172A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840480"/>
            <a:ext cx="64008" cy="7498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3840480"/>
            <a:ext cx="502920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931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PIPEDA Compliance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424281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· retention policy · on-premises only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03520" y="10058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26" name="Shape 24"/>
          <p:cNvSpPr/>
          <p:nvPr/>
        </p:nvSpPr>
        <p:spPr>
          <a:xfrm>
            <a:off x="6126480" y="2194560"/>
            <a:ext cx="1920240" cy="50292"/>
          </a:xfrm>
          <a:prstGeom prst="rect">
            <a:avLst/>
          </a:prstGeom>
          <a:solidFill>
            <a:srgbClr val="14B8A8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230428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5440680" y="2880360"/>
            <a:ext cx="329184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40680" y="2880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 ·  Private  ·  On-Premises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40680" y="44805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&amp; full documentation in GitHub → ReportsAndDocuments/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2" name="Text 30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FaceDoor  ·  CSIS 4495 Applied Research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FaceDoor — Smart Door Security System</dc:title>
  <dc:subject>PptxGenJS Presentation</dc:subject>
  <dc:creator>CSIS 4495 Applied Research</dc:creator>
  <cp:lastModifiedBy>CSIS 4495 Applied Research</cp:lastModifiedBy>
  <cp:revision>1</cp:revision>
  <dcterms:created xsi:type="dcterms:W3CDTF">2026-04-14T08:45:15Z</dcterms:created>
  <dcterms:modified xsi:type="dcterms:W3CDTF">2026-04-14T08:45:15Z</dcterms:modified>
</cp:coreProperties>
</file>